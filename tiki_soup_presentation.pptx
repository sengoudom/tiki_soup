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640080"/>
            <a:ext cx="4389120" cy="4389120"/>
          </a:xfrm>
          <a:prstGeom prst="ellipse">
            <a:avLst/>
          </a:prstGeom>
          <a:solidFill>
            <a:srgbClr val="3B2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21945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4B400"/>
                </a:solidFill>
                <a:latin typeface="Aptos"/>
              </a:rPr>
              <a:t>TIKI SOUP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6309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Aptos"/>
              </a:rPr>
              <a:t>Warm Your Soul with Tiki Soup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9718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E4DCD1"/>
                </a:solidFill>
                <a:latin typeface="Aptos"/>
              </a:rPr>
              <a:t>Handcrafted, locally sourced ingredients simmered to perfection.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3794760"/>
            <a:ext cx="1234440" cy="320040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3867912"/>
            <a:ext cx="1234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1A17"/>
                </a:solidFill>
                <a:latin typeface="Aptos"/>
              </a:rPr>
              <a:t>Fresh Daily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84831" y="3794760"/>
            <a:ext cx="1508760" cy="320040"/>
          </a:xfrm>
          <a:prstGeom prst="roundRect">
            <a:avLst/>
          </a:prstGeom>
          <a:solidFill>
            <a:srgbClr val="FFD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4831" y="3867912"/>
            <a:ext cx="1508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1A17"/>
                </a:solidFill>
                <a:latin typeface="Aptos"/>
              </a:rPr>
              <a:t>Slow Simmered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7328" y="3794760"/>
            <a:ext cx="1600200" cy="320040"/>
          </a:xfrm>
          <a:prstGeom prst="roundRect">
            <a:avLst/>
          </a:prstGeom>
          <a:solidFill>
            <a:srgbClr val="FFE7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3867912"/>
            <a:ext cx="16002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1A17"/>
                </a:solidFill>
                <a:latin typeface="Aptos"/>
              </a:rPr>
              <a:t>Ready to Enjoy</a:t>
            </a:r>
          </a:p>
        </p:txBody>
      </p:sp>
      <p:sp>
        <p:nvSpPr>
          <p:cNvPr id="14" name="Oval 13"/>
          <p:cNvSpPr/>
          <p:nvPr/>
        </p:nvSpPr>
        <p:spPr>
          <a:xfrm>
            <a:off x="8126730" y="3902659"/>
            <a:ext cx="3456432" cy="469087"/>
          </a:xfrm>
          <a:prstGeom prst="ellipse">
            <a:avLst/>
          </a:prstGeom>
          <a:solidFill>
            <a:srgbClr val="E0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0174" y="2878074"/>
            <a:ext cx="3209544" cy="123444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2D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02041" y="2594152"/>
            <a:ext cx="3518154" cy="802386"/>
          </a:xfrm>
          <a:prstGeom prst="ellipse">
            <a:avLst/>
          </a:prstGeom>
          <a:solidFill>
            <a:srgbClr val="F6A623"/>
          </a:solidFill>
          <a:ln w="12700">
            <a:solidFill>
              <a:srgbClr val="C5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30360" y="2865729"/>
            <a:ext cx="197510" cy="123444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484614" y="2754630"/>
            <a:ext cx="197510" cy="123444"/>
          </a:xfrm>
          <a:prstGeom prst="ellipse">
            <a:avLst/>
          </a:prstGeom>
          <a:solidFill>
            <a:srgbClr val="D64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101834" y="2964484"/>
            <a:ext cx="197510" cy="123444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33888" y="2791663"/>
            <a:ext cx="197510" cy="123444"/>
          </a:xfrm>
          <a:prstGeom prst="ellipse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rc 20"/>
          <p:cNvSpPr/>
          <p:nvPr/>
        </p:nvSpPr>
        <p:spPr>
          <a:xfrm rot="5400000">
            <a:off x="8867394" y="1890522"/>
            <a:ext cx="432054" cy="802386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rc 21"/>
          <p:cNvSpPr/>
          <p:nvPr/>
        </p:nvSpPr>
        <p:spPr>
          <a:xfrm rot="4500000">
            <a:off x="9608058" y="1890522"/>
            <a:ext cx="432054" cy="802386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rc 22"/>
          <p:cNvSpPr/>
          <p:nvPr/>
        </p:nvSpPr>
        <p:spPr>
          <a:xfrm rot="5400000">
            <a:off x="10311688" y="1890522"/>
            <a:ext cx="432054" cy="802386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56692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BB2A6"/>
                </a:solidFill>
                <a:latin typeface="Aptos"/>
              </a:rPr>
              <a:t>Brand presentation deck
based on uploaded website files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BRAND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1A17"/>
                </a:solidFill>
                <a:latin typeface="Aptos"/>
              </a:rPr>
              <a:t>Simple ingredients. Warm bowls. Comfort made fresh every 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5B54"/>
                </a:solidFill>
                <a:latin typeface="Aptos"/>
              </a:rPr>
              <a:t>The website positions Tiki Soup as a comforting, fresh, accessible soup brand.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965960"/>
            <a:ext cx="10881360" cy="914400"/>
          </a:xfrm>
          <a:prstGeom prst="roundRect">
            <a:avLst/>
          </a:prstGeom>
          <a:solidFill>
            <a:srgbClr val="1F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Aptos"/>
              </a:rPr>
              <a:t>“From classic comfort bowls to coconut and miso flavors, Tiki Soup brings simple ingredients together in warm, satisfying meals.”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291840"/>
            <a:ext cx="33375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291840"/>
            <a:ext cx="3337560" cy="54864"/>
          </a:xfrm>
          <a:prstGeom prst="rect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3493008"/>
            <a:ext cx="502920" cy="502920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611880"/>
            <a:ext cx="274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Fresh Ingredients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Vegetables, herbs, and broths are prepared daily for clean, rich flavor.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3291840"/>
            <a:ext cx="33375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3291840"/>
            <a:ext cx="3337560" cy="54864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99431" y="3493008"/>
            <a:ext cx="502920" cy="50292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18303" y="3611880"/>
            <a:ext cx="274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Slow Simmered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2628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Each recipe is cooked with time and care, making every bowl taste comforting.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3291840"/>
            <a:ext cx="333756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3291840"/>
            <a:ext cx="3337560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48471" y="3493008"/>
            <a:ext cx="502920" cy="50292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67344" y="3611880"/>
            <a:ext cx="274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1148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Ready to Enjoy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526280"/>
            <a:ext cx="2880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Bowls are designed for lunch, dinner, dine-in, or simple takeaway meals.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5B54"/>
                </a:solidFill>
              </a:rPr>
              <a:t>Source: Uploaded Tiki Soup website HTML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OUR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1A17"/>
                </a:solidFill>
                <a:latin typeface="Aptos"/>
              </a:rPr>
              <a:t>Born from a love of comfort.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5B54"/>
                </a:solidFill>
                <a:latin typeface="Aptos"/>
              </a:rPr>
              <a:t>Tiki Soup started in a small family kitchen in 2018 with a mission to heal, comfort, and bring people together.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54864" cy="3474720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49808" y="2057400"/>
            <a:ext cx="384048" cy="38404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039112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6452E"/>
                </a:solidFill>
                <a:latin typeface="Aptos"/>
              </a:rPr>
              <a:t>2018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201168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1A17"/>
                </a:solidFill>
                <a:latin typeface="Aptos"/>
              </a:rPr>
              <a:t>Small family kitchen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3317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The brand began with a simple belief in the power of soup.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3429000"/>
            <a:ext cx="384048" cy="38404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410712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6452E"/>
                </a:solidFill>
                <a:latin typeface="Aptos"/>
              </a:rPr>
              <a:t>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338328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1A17"/>
                </a:solidFill>
                <a:latin typeface="Aptos"/>
              </a:rPr>
              <a:t>Made from scratch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7033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Batches are cooked fresh using time, heat, and care.</a:t>
            </a:r>
          </a:p>
        </p:txBody>
      </p:sp>
      <p:sp>
        <p:nvSpPr>
          <p:cNvPr id="15" name="Oval 14"/>
          <p:cNvSpPr/>
          <p:nvPr/>
        </p:nvSpPr>
        <p:spPr>
          <a:xfrm>
            <a:off x="749808" y="4800600"/>
            <a:ext cx="384048" cy="38404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782312"/>
            <a:ext cx="914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6452E"/>
                </a:solidFill>
                <a:latin typeface="Aptos"/>
              </a:rPr>
              <a:t>Today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754880"/>
            <a:ext cx="2926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1A17"/>
                </a:solidFill>
                <a:latin typeface="Aptos"/>
              </a:rPr>
              <a:t>Comfort-first menu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507492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Familiar flavors and clean recipes keep the experience easy to enjoy.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2057400"/>
            <a:ext cx="2057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29400" y="2057400"/>
            <a:ext cx="2057400" cy="54864"/>
          </a:xfrm>
          <a:prstGeom prst="rect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2860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77063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Organic Ingredients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331720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517E48"/>
                </a:solidFill>
                <a:latin typeface="Aptos"/>
              </a:rPr>
              <a:t>100%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2057400"/>
            <a:ext cx="2057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2057400"/>
            <a:ext cx="2057400" cy="54864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228600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Daily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2770632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Fresh Batches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331720"/>
            <a:ext cx="155448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3200" b="1">
                <a:solidFill>
                  <a:srgbClr val="F6A623"/>
                </a:solidFill>
                <a:latin typeface="Aptos"/>
              </a:rPr>
              <a:t>Daily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886200"/>
            <a:ext cx="4617720" cy="1280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3886200"/>
            <a:ext cx="4617720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4114800"/>
            <a:ext cx="4160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Clean Recipes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599432"/>
            <a:ext cx="4160520" cy="3657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Fresh vegetables, balanced seasoning, and no unnecessary preservatives.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5B54"/>
                </a:solidFill>
              </a:rPr>
              <a:t>Source: Uploaded Tiki Soup website HTML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SIGNATURE MENU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1A17"/>
                </a:solidFill>
                <a:latin typeface="Aptos"/>
              </a:rPr>
              <a:t>11 bowls across classic, creamy, hearty, and bright coconut flavors.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5B54"/>
                </a:solidFill>
                <a:latin typeface="Aptos"/>
              </a:rPr>
              <a:t>Popular bowls highlighted on the home page include Classic Tomato Basil, Chicken Noodle, and Khmer Coconut.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3566160" cy="713232"/>
          </a:xfrm>
          <a:prstGeom prst="roundRect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73152" cy="713232"/>
          </a:xfrm>
          <a:prstGeom prst="rect">
            <a:avLst/>
          </a:prstGeom>
          <a:solidFill>
            <a:srgbClr val="D64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Classic Tomato Basil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8424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$6.99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240279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Rich roasted tomatoes with fresh basil.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74519"/>
            <a:ext cx="3566160" cy="713232"/>
          </a:xfrm>
          <a:prstGeom prst="roundRect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874519"/>
            <a:ext cx="73152" cy="713232"/>
          </a:xfrm>
          <a:prstGeom prst="rect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9842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Chicken Noodle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98424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$7.49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240279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Tender chicken, egg noodles, and fresh vegetables in a golden broth.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874519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874519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98424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French Onion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198424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$8.99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240279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Slow-caramelized onions in a rich beef broth, topped with gruyere.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697479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697479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2807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Mushroom Cream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80720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$8.49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3063239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Wild mushrooms blended with cream, thyme, and a hint of truffle.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2697479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2697479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2807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Minestrone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280720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$6.49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45152" y="3063239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Hearty Italian vegetable soup with cannellini beans and pasta.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75320" y="2697479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20" y="2697479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2" y="28072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New England Clam Chowder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27080" y="280720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$9.49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9912" y="3063239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Creamy chowder loaded with clams, potatoes, and smoky bacon.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3520439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5800" y="3520439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" y="36301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Butternut Squash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363016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$7.99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" y="3886200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Roasted butternut squash blended with ginger, nutmeg, and coconut milk.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60" y="3520439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80560" y="3520439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45152" y="36301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Red Lentil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63016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$6.99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5152" y="3886200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Spiced red lentils simmered with cumin, turmeric, and lemon.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75320" y="3520439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75320" y="3520439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9912" y="363016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Broccoli Cheddar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27080" y="363016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$7.99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9912" y="3886200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Velvety cheddar soup packed with tender broccoli florets.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4343400"/>
            <a:ext cx="3566160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5800" y="4343400"/>
            <a:ext cx="73152" cy="713232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" y="44531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Miso Ramen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445312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$9.99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" y="4709160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Japanese miso broth with ramen noodles, tofu, and nori.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80560" y="4343400"/>
            <a:ext cx="3566160" cy="713232"/>
          </a:xfrm>
          <a:prstGeom prst="roundRect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480560" y="4343400"/>
            <a:ext cx="73152" cy="713232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45152" y="445312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1A17"/>
                </a:solidFill>
                <a:latin typeface="Aptos"/>
              </a:rPr>
              <a:t>Khmer Coconut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0" y="4453128"/>
            <a:ext cx="6858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150" b="1">
                <a:solidFill>
                  <a:srgbClr val="D6452E"/>
                </a:solidFill>
                <a:latin typeface="Aptos"/>
              </a:rPr>
              <a:t>$9.49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45152" y="4709160"/>
            <a:ext cx="315467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>
                <a:solidFill>
                  <a:srgbClr val="625B54"/>
                </a:solidFill>
                <a:latin typeface="Aptos"/>
              </a:rPr>
              <a:t>Lemongrass-infused coconut broth with shrimp, galangal, and chili.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60120" y="5532120"/>
            <a:ext cx="1188720" cy="320040"/>
          </a:xfrm>
          <a:prstGeom prst="roundRect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" y="5605272"/>
            <a:ext cx="1188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Fresh Daily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331720" y="5532120"/>
            <a:ext cx="1508760" cy="320040"/>
          </a:xfrm>
          <a:prstGeom prst="round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31720" y="5605272"/>
            <a:ext cx="1508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Takeaway Ready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069080" y="5532120"/>
            <a:ext cx="1737360" cy="320040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69080" y="5605272"/>
            <a:ext cx="17373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1A17"/>
                </a:solidFill>
                <a:latin typeface="Aptos"/>
              </a:rPr>
              <a:t>11 Signature Bowls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5B54"/>
                </a:solidFill>
              </a:rPr>
              <a:t>Source: Uploaded Tiki Soup website HTML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FEATURED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1A17"/>
                </a:solidFill>
                <a:latin typeface="Aptos"/>
              </a:rPr>
              <a:t>Classic Tomato Basil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5B54"/>
                </a:solidFill>
                <a:latin typeface="Aptos"/>
              </a:rPr>
              <a:t>The signature slow-roasted tomato soup is blended with fresh organic basil, garlic, and a touch of cream.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20640" cy="3886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148840"/>
            <a:ext cx="1234440" cy="320040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21992"/>
            <a:ext cx="1234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1A17"/>
                </a:solidFill>
                <a:latin typeface="Aptos"/>
              </a:rPr>
              <a:t>Fresh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084831"/>
            <a:ext cx="10058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400" b="1">
                <a:solidFill>
                  <a:srgbClr val="D6452E"/>
                </a:solidFill>
                <a:latin typeface="Aptos"/>
              </a:rPr>
              <a:t>$6.99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480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F1A17"/>
                </a:solidFill>
                <a:latin typeface="Aptos"/>
              </a:rPr>
              <a:t>Rich roasted tomatoes with fresh basil.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4480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25B54"/>
                </a:solidFill>
                <a:latin typeface="Aptos"/>
              </a:rPr>
              <a:t>Perfect for a chilly day and easy to order as dine-in or takeaway.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3977639"/>
            <a:ext cx="2057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" y="3977639"/>
            <a:ext cx="2057400" cy="54864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2062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Ready in 10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9087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Fast service for lunch or dinner.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3977639"/>
            <a:ext cx="205740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3977639"/>
            <a:ext cx="2057400" cy="54864"/>
          </a:xfrm>
          <a:prstGeom prst="rect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42062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Dine in / 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69087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Built for flexible customer needs.</a:t>
            </a:r>
          </a:p>
        </p:txBody>
      </p:sp>
      <p:sp>
        <p:nvSpPr>
          <p:cNvPr id="20" name="Oval 19"/>
          <p:cNvSpPr/>
          <p:nvPr/>
        </p:nvSpPr>
        <p:spPr>
          <a:xfrm>
            <a:off x="7806690" y="4085539"/>
            <a:ext cx="3456432" cy="469087"/>
          </a:xfrm>
          <a:prstGeom prst="ellipse">
            <a:avLst/>
          </a:prstGeom>
          <a:solidFill>
            <a:srgbClr val="E0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30133" y="3060954"/>
            <a:ext cx="3209544" cy="123444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2D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82001" y="2777032"/>
            <a:ext cx="3518154" cy="802386"/>
          </a:xfrm>
          <a:prstGeom prst="ellipse">
            <a:avLst/>
          </a:prstGeom>
          <a:solidFill>
            <a:srgbClr val="D6452E"/>
          </a:solidFill>
          <a:ln w="12700">
            <a:solidFill>
              <a:srgbClr val="C5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10320" y="3048609"/>
            <a:ext cx="197510" cy="123444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64574" y="2937510"/>
            <a:ext cx="197510" cy="123444"/>
          </a:xfrm>
          <a:prstGeom prst="ellipse">
            <a:avLst/>
          </a:prstGeom>
          <a:solidFill>
            <a:srgbClr val="D64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781794" y="3147364"/>
            <a:ext cx="197510" cy="123444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13848" y="2974543"/>
            <a:ext cx="197510" cy="123444"/>
          </a:xfrm>
          <a:prstGeom prst="ellipse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rc 26"/>
          <p:cNvSpPr/>
          <p:nvPr/>
        </p:nvSpPr>
        <p:spPr>
          <a:xfrm rot="5400000">
            <a:off x="8547354" y="2073402"/>
            <a:ext cx="432054" cy="802386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rc 27"/>
          <p:cNvSpPr/>
          <p:nvPr/>
        </p:nvSpPr>
        <p:spPr>
          <a:xfrm rot="4500000">
            <a:off x="9288017" y="2073402"/>
            <a:ext cx="432054" cy="802386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rc 28"/>
          <p:cNvSpPr/>
          <p:nvPr/>
        </p:nvSpPr>
        <p:spPr>
          <a:xfrm rot="5400000">
            <a:off x="9991648" y="2073402"/>
            <a:ext cx="432054" cy="802386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37960" y="4754880"/>
            <a:ext cx="4297680" cy="868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37960" y="4754880"/>
            <a:ext cx="4297680" cy="54864"/>
          </a:xfrm>
          <a:prstGeom prst="rect">
            <a:avLst/>
          </a:prstGeom>
          <a:solidFill>
            <a:srgbClr val="D64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9834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Ingredients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468112"/>
            <a:ext cx="3840480" cy="-45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Fresh vegetables • House-made broth • Herbs and seasoning • Optional toppings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5B54"/>
                </a:solidFill>
              </a:rPr>
              <a:t>Source: Uploaded Tiki Soup website HTML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HOW WE MAKE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1A17"/>
                </a:solidFill>
                <a:latin typeface="Aptos"/>
              </a:rPr>
              <a:t>Prep fresh ingredients, simmer slowly, taste carefully, and serve warm.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5B54"/>
                </a:solidFill>
                <a:latin typeface="Aptos"/>
              </a:rPr>
              <a:t>The preparation story is simple enough to understand and strong enough to support the brand promise.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3154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3154680" cy="54864"/>
          </a:xfrm>
          <a:prstGeom prst="rect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" y="2350008"/>
            <a:ext cx="502920" cy="502920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2468880"/>
            <a:ext cx="274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Select Ingredients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8328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Vegetables, herbs, noodles, and proteins are checked before cooking.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23359" y="2880360"/>
            <a:ext cx="502920" cy="411480"/>
          </a:xfrm>
          <a:prstGeom prst="rightArrow">
            <a:avLst/>
          </a:prstGeom>
          <a:solidFill>
            <a:srgbClr val="D3C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0" y="2148840"/>
            <a:ext cx="3154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2148840"/>
            <a:ext cx="3154680" cy="54864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36592" y="2350008"/>
            <a:ext cx="502920" cy="502920"/>
          </a:xfrm>
          <a:prstGeom prst="ellipse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2468880"/>
            <a:ext cx="274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9718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Build the Broth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338328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Broths are simmered slowly to create deep flavor without shortcuts.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18120" y="2880360"/>
            <a:ext cx="502920" cy="411480"/>
          </a:xfrm>
          <a:prstGeom prst="rightArrow">
            <a:avLst/>
          </a:prstGeom>
          <a:solidFill>
            <a:srgbClr val="D3C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2148840"/>
            <a:ext cx="315468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66760" y="2148840"/>
            <a:ext cx="3154680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31352" y="2350008"/>
            <a:ext cx="502920" cy="50292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0224" y="2468880"/>
            <a:ext cx="2743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97180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Serve Fresh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383280"/>
            <a:ext cx="2697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Each bowl is finished, packed, and served with care.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2286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F1A17"/>
                </a:solidFill>
                <a:latin typeface="Aptos"/>
              </a:rPr>
              <a:t>Quality proof points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5303520"/>
            <a:ext cx="384048" cy="38404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85816"/>
            <a:ext cx="3840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2578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1A17"/>
                </a:solidFill>
                <a:latin typeface="Aptos"/>
              </a:rPr>
              <a:t>Quality Checked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321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25B54"/>
                </a:solidFill>
                <a:latin typeface="Aptos"/>
              </a:rPr>
              <a:t>Each batch is tasted for consistency.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5303520"/>
            <a:ext cx="384048" cy="38404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5385816"/>
            <a:ext cx="3840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59" y="52578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1A17"/>
                </a:solidFill>
                <a:latin typeface="Aptos"/>
              </a:rPr>
              <a:t>Served Hot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59" y="55321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25B54"/>
                </a:solidFill>
                <a:latin typeface="Aptos"/>
              </a:rPr>
              <a:t>Packed carefully from counter to table.</a:t>
            </a:r>
          </a:p>
        </p:txBody>
      </p:sp>
      <p:sp>
        <p:nvSpPr>
          <p:cNvPr id="35" name="Oval 34"/>
          <p:cNvSpPr/>
          <p:nvPr/>
        </p:nvSpPr>
        <p:spPr>
          <a:xfrm>
            <a:off x="8412480" y="5303520"/>
            <a:ext cx="384048" cy="384048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0" y="5385816"/>
            <a:ext cx="38404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F1A17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257800"/>
            <a:ext cx="21945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F1A17"/>
                </a:solidFill>
                <a:latin typeface="Aptos"/>
              </a:rPr>
              <a:t>Easy Reorder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400" y="5532120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625B54"/>
                </a:solidFill>
                <a:latin typeface="Aptos"/>
              </a:rPr>
              <a:t>Customers can return to the menu anytime.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5B54"/>
                </a:solidFill>
              </a:rPr>
              <a:t>Source: Uploaded Tiki Soup website HTML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76656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CUSTOMER TOUCHPOINTS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1A17"/>
                </a:solidFill>
                <a:latin typeface="Aptos"/>
              </a:rPr>
              <a:t>Takeaway orders, catering, feedback, and direct contact.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25B54"/>
                </a:solidFill>
                <a:latin typeface="Aptos"/>
              </a:rPr>
              <a:t>The site gives customers clear ways to explore the menu and reach the Tiki Soup team.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4572000" cy="3931920"/>
          </a:xfrm>
          <a:prstGeom prst="roundRect">
            <a:avLst/>
          </a:prstGeom>
          <a:solidFill>
            <a:srgbClr val="1F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29260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Contact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868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Address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82549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BE4D9"/>
                </a:solidFill>
                <a:latin typeface="Aptos"/>
              </a:rPr>
              <a:t>123 Soup Bowl Ave, Food District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868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41985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BE4D9"/>
                </a:solidFill>
                <a:latin typeface="Aptos"/>
              </a:rPr>
              <a:t>+1 (555) 123-4567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23360"/>
            <a:ext cx="868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1421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BE4D9"/>
                </a:solidFill>
                <a:latin typeface="Aptos"/>
              </a:rPr>
              <a:t>hello@tikisoup.com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617720"/>
            <a:ext cx="868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4B400"/>
                </a:solidFill>
                <a:latin typeface="Aptos"/>
              </a:rPr>
              <a:t>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608576"/>
            <a:ext cx="2971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BE4D9"/>
                </a:solidFill>
                <a:latin typeface="Aptos"/>
              </a:rPr>
              <a:t>Mon - Sat: 10:00 AM - 9:00 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19659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0" y="1965960"/>
            <a:ext cx="1828800" cy="54864"/>
          </a:xfrm>
          <a:prstGeom prst="rect">
            <a:avLst/>
          </a:prstGeom>
          <a:solidFill>
            <a:srgbClr val="F6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2194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Takeaway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679191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Call ahead and favorite bowls can be prepared for pickup.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9659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1965960"/>
            <a:ext cx="1828800" cy="54864"/>
          </a:xfrm>
          <a:prstGeom prst="rect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0" y="2194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Catering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79191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Soup trays and lunch sets for school, work, or family events.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1965960"/>
            <a:ext cx="18288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21240" y="1965960"/>
            <a:ext cx="1828800" cy="5486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0" y="21945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Feedback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679191"/>
            <a:ext cx="1371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Customers can share what they loved or what to improve.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0" y="4251960"/>
            <a:ext cx="60350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15000" y="4251960"/>
            <a:ext cx="6035040" cy="54864"/>
          </a:xfrm>
          <a:prstGeom prst="rect">
            <a:avLst/>
          </a:prstGeom>
          <a:solidFill>
            <a:srgbClr val="D64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44805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1A17"/>
                </a:solidFill>
                <a:latin typeface="Aptos"/>
              </a:rPr>
              <a:t>Website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965192"/>
            <a:ext cx="55778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25B54"/>
                </a:solidFill>
                <a:latin typeface="Aptos"/>
              </a:rPr>
              <a:t>Home → Explore Menu → View Product Details → Add to Cart / Contact 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625B54"/>
                </a:solidFill>
              </a:rPr>
              <a:t>Source: Uploaded Tiki Soup website HTML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A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983479" y="3156508"/>
            <a:ext cx="3584447" cy="486460"/>
          </a:xfrm>
          <a:prstGeom prst="ellipse">
            <a:avLst/>
          </a:prstGeom>
          <a:solidFill>
            <a:srgbClr val="E0C9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11496" y="2093976"/>
            <a:ext cx="3328415" cy="1280160"/>
          </a:xfrm>
          <a:prstGeom prst="roundRect">
            <a:avLst/>
          </a:prstGeom>
          <a:solidFill>
            <a:srgbClr val="FFF7EC"/>
          </a:solidFill>
          <a:ln w="12700">
            <a:solidFill>
              <a:srgbClr val="E2D2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957876" y="1799539"/>
            <a:ext cx="3648456" cy="832103"/>
          </a:xfrm>
          <a:prstGeom prst="ellipse">
            <a:avLst/>
          </a:prstGeom>
          <a:solidFill>
            <a:srgbClr val="F6A623"/>
          </a:solidFill>
          <a:ln w="12700">
            <a:solidFill>
              <a:srgbClr val="C58A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3171" y="2081174"/>
            <a:ext cx="204825" cy="128015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391655" y="1965960"/>
            <a:ext cx="204825" cy="128015"/>
          </a:xfrm>
          <a:prstGeom prst="ellipse">
            <a:avLst/>
          </a:prstGeom>
          <a:solidFill>
            <a:srgbClr val="D64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31736" y="2183587"/>
            <a:ext cx="204825" cy="128015"/>
          </a:xfrm>
          <a:prstGeom prst="ellipse">
            <a:avLst/>
          </a:prstGeom>
          <a:solidFill>
            <a:srgbClr val="517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79792" y="2004364"/>
            <a:ext cx="204825" cy="128015"/>
          </a:xfrm>
          <a:prstGeom prst="ellipse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 rot="5400000">
            <a:off x="5751575" y="1069848"/>
            <a:ext cx="448055" cy="832103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 rot="4500000">
            <a:off x="6519671" y="1069848"/>
            <a:ext cx="448055" cy="832103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c 11"/>
          <p:cNvSpPr/>
          <p:nvPr/>
        </p:nvSpPr>
        <p:spPr>
          <a:xfrm rot="5400000">
            <a:off x="7249363" y="1069848"/>
            <a:ext cx="448055" cy="832103"/>
          </a:xfrm>
          <a:prstGeom prst="arc">
            <a:avLst/>
          </a:prstGeom>
          <a:noFill/>
          <a:ln w="25400">
            <a:solidFill>
              <a:srgbClr val="DAD0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Aptos"/>
              </a:rPr>
              <a:t>Tiki Soup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6DED2"/>
                </a:solidFill>
                <a:latin typeface="Aptos"/>
              </a:rPr>
              <a:t>Comfort in every bowl.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4B400"/>
                </a:solidFill>
                <a:latin typeface="Aptos"/>
              </a:rPr>
              <a:t>Fresh ingredients • Slow-simmered recipes • Ready-to-enjoy meals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4892040"/>
            <a:ext cx="1371600" cy="320040"/>
          </a:xfrm>
          <a:prstGeom prst="round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4965192"/>
            <a:ext cx="1371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1A17"/>
                </a:solidFill>
                <a:latin typeface="Aptos"/>
              </a:rPr>
              <a:t>Explore Menu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06440" y="4892040"/>
            <a:ext cx="1234440" cy="320040"/>
          </a:xfrm>
          <a:prstGeom prst="roundRect">
            <a:avLst/>
          </a:prstGeom>
          <a:solidFill>
            <a:srgbClr val="FFF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4965192"/>
            <a:ext cx="123444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1F1A17"/>
                </a:solidFill>
                <a:latin typeface="Aptos"/>
              </a:rPr>
              <a:t>Contact 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BB2A6"/>
                </a:solidFill>
                <a:latin typeface="Aptos"/>
              </a:rPr>
              <a:t>Prepared from uploaded HTML source files: Home, About, Menu, Product Detail, and Contact.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27080" cy="32004"/>
          </a:xfrm>
          <a:prstGeom prst="rect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27080" y="6473952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25B54"/>
                </a:solidFill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